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69147F-8F51-4716-87B8-57775AE2AF05}" v="2" dt="2026-04-21T09:16:41.5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v.solanki.works@gmail.com" userId="52c76854b4a9ec1a" providerId="LiveId" clId="{A0204B83-AD7A-4025-9810-B3DCB1D84747}"/>
    <pc:docChg chg="modSld">
      <pc:chgData name="dev.solanki.works@gmail.com" userId="52c76854b4a9ec1a" providerId="LiveId" clId="{A0204B83-AD7A-4025-9810-B3DCB1D84747}" dt="2026-04-21T09:17:09.445" v="104" actId="20577"/>
      <pc:docMkLst>
        <pc:docMk/>
      </pc:docMkLst>
      <pc:sldChg chg="modSp mod">
        <pc:chgData name="dev.solanki.works@gmail.com" userId="52c76854b4a9ec1a" providerId="LiveId" clId="{A0204B83-AD7A-4025-9810-B3DCB1D84747}" dt="2026-04-21T09:17:09.445" v="104" actId="20577"/>
        <pc:sldMkLst>
          <pc:docMk/>
          <pc:sldMk cId="0" sldId="256"/>
        </pc:sldMkLst>
        <pc:spChg chg="mod">
          <ac:chgData name="dev.solanki.works@gmail.com" userId="52c76854b4a9ec1a" providerId="LiveId" clId="{A0204B83-AD7A-4025-9810-B3DCB1D84747}" dt="2026-04-21T09:15:52.521" v="30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dev.solanki.works@gmail.com" userId="52c76854b4a9ec1a" providerId="LiveId" clId="{A0204B83-AD7A-4025-9810-B3DCB1D84747}" dt="2026-04-21T09:16:02.499" v="42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dev.solanki.works@gmail.com" userId="52c76854b4a9ec1a" providerId="LiveId" clId="{A0204B83-AD7A-4025-9810-B3DCB1D84747}" dt="2026-04-21T09:16:14.797" v="57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dev.solanki.works@gmail.com" userId="52c76854b4a9ec1a" providerId="LiveId" clId="{A0204B83-AD7A-4025-9810-B3DCB1D84747}" dt="2026-04-21T09:16:23.506" v="72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dev.solanki.works@gmail.com" userId="52c76854b4a9ec1a" providerId="LiveId" clId="{A0204B83-AD7A-4025-9810-B3DCB1D84747}" dt="2026-04-21T09:16:51.858" v="91" actId="20577"/>
          <ac:spMkLst>
            <pc:docMk/>
            <pc:sldMk cId="0" sldId="256"/>
            <ac:spMk id="21" creationId="{00000000-0000-0000-0000-000000000000}"/>
          </ac:spMkLst>
        </pc:spChg>
        <pc:spChg chg="mod">
          <ac:chgData name="dev.solanki.works@gmail.com" userId="52c76854b4a9ec1a" providerId="LiveId" clId="{A0204B83-AD7A-4025-9810-B3DCB1D84747}" dt="2026-04-21T09:17:09.445" v="104" actId="20577"/>
          <ac:spMkLst>
            <pc:docMk/>
            <pc:sldMk cId="0" sldId="256"/>
            <ac:spMk id="2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0" y="0"/>
            <a:ext cx="2587752" cy="137160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46920" y="9144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200" b="0" i="0" dirty="0">
                <a:solidFill>
                  <a:srgbClr val="028FBE"/>
                </a:solidFill>
              </a:rPr>
              <a:t>GenAI-B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566928"/>
            <a:ext cx="2468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300" b="1" i="0" dirty="0">
                <a:solidFill>
                  <a:srgbClr val="FFFFFF"/>
                </a:solidFill>
              </a:rPr>
              <a:t>Dev Solanki</a:t>
            </a:r>
          </a:p>
          <a:p>
            <a:pPr algn="ctr"/>
            <a:r>
              <a:rPr lang="en-IN" sz="1300" b="1" dirty="0">
                <a:solidFill>
                  <a:srgbClr val="FFFFFF"/>
                </a:solidFill>
              </a:rPr>
              <a:t>KU2507U0215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9144000" cy="82296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6459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Customer Churn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CAE3F5"/>
                </a:solidFill>
              </a:rPr>
              <a:t>using 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204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028FBE"/>
                </a:solidFill>
              </a:rPr>
              <a:t>Deployment with Streamlit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34840"/>
            <a:ext cx="2743200" cy="100584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434840"/>
            <a:ext cx="2743200" cy="82296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45720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Student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937760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300" b="1" dirty="0">
                <a:solidFill>
                  <a:srgbClr val="FFFFFF"/>
                </a:solidFill>
              </a:rPr>
              <a:t>Dev Solanki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91840" y="4434840"/>
            <a:ext cx="2743200" cy="100584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91840" y="4434840"/>
            <a:ext cx="2743200" cy="82296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45720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Enrollment 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937760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300" b="1" dirty="0">
                <a:solidFill>
                  <a:srgbClr val="FFFFFF"/>
                </a:solidFill>
              </a:rPr>
              <a:t>KU2507U0215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17920" y="4434840"/>
            <a:ext cx="2743200" cy="100584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4434840"/>
            <a:ext cx="2743200" cy="82296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45720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Instructor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937760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300" b="1" i="0" dirty="0">
                <a:solidFill>
                  <a:srgbClr val="FFFFFF"/>
                </a:solidFill>
              </a:rPr>
              <a:t>Rishabh </a:t>
            </a:r>
            <a:r>
              <a:rPr lang="en-IN" sz="1300" b="1" i="0" dirty="0" err="1">
                <a:solidFill>
                  <a:srgbClr val="FFFFFF"/>
                </a:solidFill>
              </a:rPr>
              <a:t>Bheda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0" y="4434840"/>
            <a:ext cx="2743200" cy="100584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4434840"/>
            <a:ext cx="2743200" cy="82296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45720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Course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4937760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Gen AI  </a:t>
            </a:r>
            <a:r>
              <a:rPr lang="en-IN" sz="1300" b="1" i="0" dirty="0">
                <a:solidFill>
                  <a:srgbClr val="FFFFFF"/>
                </a:solidFill>
              </a:rPr>
              <a:t>- B | IBM </a:t>
            </a:r>
            <a:r>
              <a:rPr sz="1300" b="1" i="0" dirty="0">
                <a:solidFill>
                  <a:srgbClr val="FFFFFF"/>
                </a:solidFill>
              </a:rPr>
              <a:t>| 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90A0"/>
                </a:solidFill>
              </a:rPr>
              <a:t>Final Project  ·  Individual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37033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3703320" cy="10972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What is Customer Churn?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76272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Churn = customers stopping use of a product/service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79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In travel: passengers switching to other airlines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75887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Every lost customer = lost recurring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25696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Churn rate is a critical KPI for businesses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325880"/>
            <a:ext cx="37033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59" y="1325880"/>
            <a:ext cx="3703320" cy="109728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5087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Why Predict Churn?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Retention is 5–7× cheaper than acquisition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926079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Early signals allow proactive intervention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675887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Targeted loyalty rewards reduce 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425696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Improves customer lifetime value (CLV)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325880"/>
            <a:ext cx="37033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79" y="1325880"/>
            <a:ext cx="3703320" cy="10972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59" y="15087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Project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176272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Build a Random Forest classifier on travel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926079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Predict whether a customer will churn (Yes/No)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9" y="3675887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Evaluate using Accuracy, ROC-AUC, F1-Score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59" y="4425696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Deploy live app on Streamlit Cloud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2: Project Overview  |  Customer Churn Prediction using Random Forest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Dataset Description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521440" cy="91440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Customertravel.csv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~954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3716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FBE"/>
                </a:solidFill>
              </a:rPr>
              <a:t>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Binary (0 / 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395728"/>
            <a:ext cx="11521440" cy="47548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244144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Column 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44144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4144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Values /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44144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898648"/>
            <a:ext cx="11521440" cy="484632"/>
          </a:xfrm>
          <a:prstGeom prst="rect">
            <a:avLst/>
          </a:prstGeom>
          <a:solidFill>
            <a:srgbClr val="18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296265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962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Demographics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96265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18 – 80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2990088"/>
            <a:ext cx="2286000" cy="301752"/>
          </a:xfrm>
          <a:prstGeom prst="rect">
            <a:avLst/>
          </a:prstGeom>
          <a:solidFill>
            <a:srgbClr val="223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89720" y="2990088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410712"/>
            <a:ext cx="11521440" cy="484632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FrequentFlyer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Demographics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474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Yes / No / No Record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502152"/>
            <a:ext cx="2286000" cy="301752"/>
          </a:xfrm>
          <a:prstGeom prst="rect">
            <a:avLst/>
          </a:prstGeom>
          <a:solidFill>
            <a:srgbClr val="223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89720" y="3502152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922776"/>
            <a:ext cx="11521440" cy="484632"/>
          </a:xfrm>
          <a:prstGeom prst="rect">
            <a:avLst/>
          </a:prstGeom>
          <a:solidFill>
            <a:srgbClr val="18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398678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AnnualIncomeClass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39867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Account Info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39867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Low / Middle / High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014215"/>
            <a:ext cx="2286000" cy="301752"/>
          </a:xfrm>
          <a:prstGeom prst="rect">
            <a:avLst/>
          </a:prstGeom>
          <a:solidFill>
            <a:srgbClr val="223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89720" y="4014215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434840"/>
            <a:ext cx="11521440" cy="484632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1480" y="44988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ServicesOpted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44988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Service Usage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44988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 – 6 (count)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4526279"/>
            <a:ext cx="2286000" cy="301752"/>
          </a:xfrm>
          <a:prstGeom prst="rect">
            <a:avLst/>
          </a:prstGeom>
          <a:solidFill>
            <a:srgbClr val="223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89720" y="4526279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946904"/>
            <a:ext cx="11521440" cy="484632"/>
          </a:xfrm>
          <a:prstGeom prst="rect">
            <a:avLst/>
          </a:prstGeom>
          <a:solidFill>
            <a:srgbClr val="18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50109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AccountSyncedToSocialMedia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50109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Account Info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440" y="50109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Yes / 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5038344"/>
            <a:ext cx="2286000" cy="301752"/>
          </a:xfrm>
          <a:prstGeom prst="rect">
            <a:avLst/>
          </a:prstGeom>
          <a:solidFill>
            <a:srgbClr val="223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89720" y="5038344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5458968"/>
            <a:ext cx="11521440" cy="484632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1480" y="5522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BookedHotelOrNot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5229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Service Usage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06440" y="552297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Yes /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0" y="5550408"/>
            <a:ext cx="2286000" cy="301752"/>
          </a:xfrm>
          <a:prstGeom prst="rect">
            <a:avLst/>
          </a:prstGeom>
          <a:solidFill>
            <a:srgbClr val="223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89720" y="5550408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971032"/>
            <a:ext cx="11521440" cy="484632"/>
          </a:xfrm>
          <a:prstGeom prst="rect">
            <a:avLst/>
          </a:prstGeom>
          <a:solidFill>
            <a:srgbClr val="18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1480" y="6035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300"/>
                </a:solidFill>
              </a:rPr>
              <a:t>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0" y="6035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3F5"/>
                </a:solidFill>
              </a:rPr>
              <a:t>Churn Status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06440" y="6035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0 = Stay, 1 = Churn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6062472"/>
            <a:ext cx="2286000" cy="301752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89720" y="6062472"/>
            <a:ext cx="2194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Target 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3: Dataset Description  |  Customer Churn Prediction using Random Forest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ML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27889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788920" cy="10972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79" y="1508760"/>
            <a:ext cx="548640" cy="54864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727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Data Cleaning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Handle missing values → fillna('Unknown')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Remove inconsistencies in categorical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9624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Validate data types and value ranges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28FB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325880"/>
            <a:ext cx="27889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91840" y="1325880"/>
            <a:ext cx="2788920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1508760"/>
            <a:ext cx="548640" cy="5486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8328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15727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Feature Encoding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LabelEncoder applied to 4 categorical columns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04495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FrequentFlyer, AnnualIncomeClass, AccountSynced, BookedHotel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849624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Encoders saved in model.pkl for deployment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28FBE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325880"/>
            <a:ext cx="27889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1325880"/>
            <a:ext cx="2788920" cy="109728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79" y="1508760"/>
            <a:ext cx="548640" cy="548640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79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15727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Train-Test Split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80% Training  /  20% Testing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04495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stratify=y preserves churn class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849624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random_state=42 for reproducibility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28FBE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1325880"/>
            <a:ext cx="2788920" cy="489204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35440" y="1325880"/>
            <a:ext cx="2788920" cy="10972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326880" y="1508760"/>
            <a:ext cx="548640" cy="5486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2688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15727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3A5E"/>
                </a:solidFill>
              </a:rPr>
              <a:t>Random Forest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RandomForestClassifier(n_estimators=100)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304495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max_depth=10, class_weight='balanced'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3849624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model.fit(X_train, y_train) → model.pkl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4: ML Workflow  |  Customer Churn Prediction using Random Forest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Model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11521440" cy="11887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2103120" cy="1051560"/>
          </a:xfrm>
          <a:prstGeom prst="rect">
            <a:avLst/>
          </a:prstGeom>
          <a:solidFill>
            <a:srgbClr val="0C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2103120" cy="73152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90A0"/>
                </a:solidFill>
              </a:rPr>
              <a:t>Accuracy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105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9E55"/>
                </a:solidFill>
              </a:rPr>
              <a:t>~85%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4912" y="1389888"/>
            <a:ext cx="2103120" cy="1051560"/>
          </a:xfrm>
          <a:prstGeom prst="rect">
            <a:avLst/>
          </a:prstGeom>
          <a:solidFill>
            <a:srgbClr val="0C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24912" y="1389888"/>
            <a:ext cx="2103120" cy="73152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16352" y="15087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90A0"/>
                </a:solidFill>
              </a:rPr>
              <a:t>ROC-AUC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18105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28FBE"/>
                </a:solidFill>
              </a:rPr>
              <a:t>~0.88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89888"/>
            <a:ext cx="2103120" cy="1051560"/>
          </a:xfrm>
          <a:prstGeom prst="rect">
            <a:avLst/>
          </a:prstGeom>
          <a:solidFill>
            <a:srgbClr val="0C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992624" y="1389888"/>
            <a:ext cx="210312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84064" y="15087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90A0"/>
                </a:solidFill>
              </a:rPr>
              <a:t>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18105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B300"/>
                </a:solidFill>
              </a:rPr>
              <a:t>~0.83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0336" y="1389888"/>
            <a:ext cx="2103120" cy="1051560"/>
          </a:xfrm>
          <a:prstGeom prst="rect">
            <a:avLst/>
          </a:prstGeom>
          <a:solidFill>
            <a:srgbClr val="0C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60336" y="1389888"/>
            <a:ext cx="2103120" cy="73152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51775" y="15087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90A0"/>
                </a:solidFill>
              </a:rPr>
              <a:t>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1775" y="18105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F5350"/>
                </a:solidFill>
              </a:rPr>
              <a:t>~0.79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1389888"/>
            <a:ext cx="2103120" cy="1051560"/>
          </a:xfrm>
          <a:prstGeom prst="rect">
            <a:avLst/>
          </a:prstGeom>
          <a:solidFill>
            <a:srgbClr val="0C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28048" y="1389888"/>
            <a:ext cx="2103120" cy="73152"/>
          </a:xfrm>
          <a:prstGeom prst="rect">
            <a:avLst/>
          </a:prstGeom>
          <a:solidFill>
            <a:srgbClr val="CA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19488" y="15087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90A0"/>
                </a:solidFill>
              </a:rPr>
              <a:t>F1-Score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18105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AE3F5"/>
                </a:solidFill>
              </a:rPr>
              <a:t>~0.81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715768"/>
            <a:ext cx="5715000" cy="3474720"/>
          </a:xfrm>
          <a:prstGeom prst="rect">
            <a:avLst/>
          </a:prstGeom>
          <a:solidFill>
            <a:srgbClr val="0C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2816352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28FBE"/>
                </a:solidFill>
              </a:rPr>
              <a:t>Confusion Matrix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40156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True Negative (TN): Correctly predicted 'Retained'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90448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True Positive (TP): Correctly predicted 'Churned'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4074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False Positive (FP): Predicted Churn but retained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91032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False Negative (FN): Missed actual churners  ← 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1324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Goal: Maximize TP &amp; TN, minimize FN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989320"/>
            <a:ext cx="5715000" cy="164592"/>
          </a:xfrm>
          <a:prstGeom prst="rect">
            <a:avLst/>
          </a:prstGeom>
          <a:solidFill>
            <a:srgbClr val="025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79" y="5989320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E3F5"/>
                </a:solidFill>
              </a:rPr>
              <a:t>ℹ  Classification Report shows per-class Precision, Recall &amp; F1 for both Churn (1) and No-Churn (0) classes.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2715768"/>
            <a:ext cx="5715000" cy="3474720"/>
          </a:xfrm>
          <a:prstGeom prst="rect">
            <a:avLst/>
          </a:prstGeom>
          <a:solidFill>
            <a:srgbClr val="0C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28FBE"/>
                </a:solidFill>
              </a:rPr>
              <a:t>ROC Curve &amp; Feature Importance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40156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ROC Curve plots True Positive Rate vs False Positive 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390448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AUC near 1.0 → strong discriminative power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4074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Top Features → ServicesOpted, Age, FrequentFlyer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491032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AnnualIncomeClass &amp; SocialMedia sync also significant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41324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Feature importance guides business retention strategy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59" y="5989320"/>
            <a:ext cx="5715000" cy="164592"/>
          </a:xfrm>
          <a:prstGeom prst="rect">
            <a:avLst/>
          </a:prstGeom>
          <a:solidFill>
            <a:srgbClr val="025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799" y="5989320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E3F5"/>
                </a:solidFill>
              </a:rPr>
              <a:t>ℹ  ROC curve area (AUC ≈ 0.88) indicates the model is well above random chance (AUC = 0.5).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5: Model Evaluation  |  Customer Churn Prediction using Random Forest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Visualizations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3657600" cy="242316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3657600" cy="914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27048"/>
            <a:ext cx="594360" cy="59436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Churn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24028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Bar + Pie chart showing percentage split of churned (1) vs retained (0) customers across the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325880"/>
            <a:ext cx="3657600" cy="242316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59" y="1325880"/>
            <a:ext cx="3657600" cy="91440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594360" cy="594360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527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3207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Feature Distribution Plots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1" y="224028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6-panel plot: churn rate by Age, FrequentFlyer, AnnualIncomeClass, ServicesOpted, AccountSynced, BookedHotel.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325880"/>
            <a:ext cx="3657600" cy="242316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325880"/>
            <a:ext cx="3657600" cy="9144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21040" y="1527048"/>
            <a:ext cx="594360" cy="5943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527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Correlation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1" y="224028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Pearson correlation matrix (heatmap) of all encoded features to identify multicollinearity with Target.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3657600" cy="242316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3657600" cy="914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4133087"/>
            <a:ext cx="594360" cy="5943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413308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417880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Confusion Matrix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" y="484632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2×2 heatmap of True Positives, True Negatives, False Positives, and False Negatives on test split.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931920"/>
            <a:ext cx="3657600" cy="242316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51959" y="3931920"/>
            <a:ext cx="3657600" cy="914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89120" y="4133087"/>
            <a:ext cx="594360" cy="5943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413308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7" y="417880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ROC Curve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1" y="484632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True Positive Rate vs False Positive Rate with AUC shaded area. AUC ≈ 0.88 for this model.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79" y="3931920"/>
            <a:ext cx="3657600" cy="2423160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83879" y="3931920"/>
            <a:ext cx="3657600" cy="9144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321040" y="4133087"/>
            <a:ext cx="594360" cy="5943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413308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417880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Feature Importance Chart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484632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Horizontal bar chart ranking all 6 features by their importance score from the Random Forest model.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6: Visualizations  |  Customer Churn Prediction using Random Forest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Streamlit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5349240" cy="5074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28FBE"/>
                </a:solidFill>
              </a:rPr>
              <a:t>Required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993392"/>
            <a:ext cx="5120640" cy="34747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0299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Loads model.pkl using pickle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Presents input form via Streamlit widgets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1810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Encodes inputs → feeds to RF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930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Displays Churn / No-Churn prediction + probability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904488"/>
            <a:ext cx="5120640" cy="347472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941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model.pkl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793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Saved from Jupyter Notebook after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542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Contains: RandomForestClassifier + LabelEncoders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Loaded once and cached with @st.cache_resource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440680"/>
            <a:ext cx="5120640" cy="347472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54772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requirements.txt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15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Lists all Python dependencies for cloud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90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Includes: streamlit, pandas, numpy, scikit-learn,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3F5"/>
                </a:solidFill>
              </a:rPr>
              <a:t>    ›   scikit-plot, matplotlib, seaborn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98448"/>
            <a:ext cx="5943600" cy="5074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0" y="141732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28FBE"/>
                </a:solidFill>
              </a:rPr>
              <a:t>How Streamlit Cloud 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29968"/>
            <a:ext cx="502920" cy="5486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5040" y="20756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0665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GitHub Repo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340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0A0"/>
                </a:solidFill>
              </a:rPr>
              <a:t>Contains app.py, model.pkl, requirements.txt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898648"/>
            <a:ext cx="502920" cy="5486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0" y="294436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9352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Streamlit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209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0A0"/>
                </a:solidFill>
              </a:rPr>
              <a:t>Reads repo and installs requirements.txt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3767328"/>
            <a:ext cx="502920" cy="5486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35040" y="381304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803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Build &amp; Launch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0782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0A0"/>
                </a:solidFill>
              </a:rPr>
              <a:t>Runs app.py → serves it as a public web app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4636008"/>
            <a:ext cx="502920" cy="5486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35040" y="46817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4672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Public URL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9469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0A0"/>
                </a:solidFill>
              </a:rPr>
              <a:t>https://your-app-name.streamlit.app/ generated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5504688"/>
            <a:ext cx="502920" cy="548640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35040" y="5550407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55412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Live Predictions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81558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0A0"/>
                </a:solidFill>
              </a:rPr>
              <a:t>Any user can enter inputs and get predictions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7: Streamlit Deployment  |  Customer Churn Prediction using Random Forest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Deployment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777240" cy="84124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41732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325880"/>
            <a:ext cx="9326880" cy="841248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138988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Create GitHub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7373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Create a new public GitHub repo. Upload app.py, model.pkl, and requirements.txt. Commit and push all files.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0" y="1508760"/>
            <a:ext cx="1691640" cy="438912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52760" y="15270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github.com → New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31720"/>
            <a:ext cx="777240" cy="841248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42316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331720"/>
            <a:ext cx="9326880" cy="841248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2395727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Sign in to Streamlit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432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Go to share.streamlit.io. Click 'Sign in with GitHub'. Authorize Streamlit to access your repositories.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0" y="2514600"/>
            <a:ext cx="1691640" cy="438912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52760" y="25328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share.streamlit.io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37560"/>
            <a:ext cx="777240" cy="84124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342900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3337560"/>
            <a:ext cx="9326880" cy="841248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25880" y="340156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Click 'Deploy App'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7490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Click the 'Deploy App' button on Streamlit Cloud dashboard. Select your GitHub repository from the dropdown.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0" y="3520440"/>
            <a:ext cx="1691640" cy="43891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52760" y="353872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Dashboard → Deploy App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343400"/>
            <a:ext cx="777240" cy="84124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443484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343400"/>
            <a:ext cx="9326880" cy="841248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40740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Select Repository &amp; 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754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Choose your repository. Set the main file path to app.py. Confirm all settings and click Deploy.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4526280"/>
            <a:ext cx="1691640" cy="438912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60" y="454456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Main file: app.py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349240"/>
            <a:ext cx="777240" cy="841248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544068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88720" y="5349240"/>
            <a:ext cx="9326880" cy="841248"/>
          </a:xfrm>
          <a:prstGeom prst="rect">
            <a:avLst/>
          </a:prstGeom>
          <a:solidFill>
            <a:srgbClr val="F4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325880" y="541324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A5E"/>
                </a:solidFill>
              </a:rPr>
              <a:t>Copy &amp; Share the Link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57607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Streamlit builds the app and generates a public URL. Copy the link and include it in your submission.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07040" y="5532120"/>
            <a:ext cx="1691640" cy="438912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52760" y="555040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https://your-app.streamlit.app/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8: Deployment Steps  |  Customer Churn Prediction using Random Forest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5669280" cy="2514600"/>
          </a:xfrm>
          <a:prstGeom prst="rect">
            <a:avLst/>
          </a:prstGeom>
          <a:solidFill>
            <a:srgbClr val="0C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5669280" cy="109728"/>
          </a:xfrm>
          <a:prstGeom prst="rect">
            <a:avLst/>
          </a:prstGeom>
          <a:solidFill>
            <a:srgbClr val="028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9047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28FBE"/>
                </a:solidFill>
              </a:rPr>
              <a:t>Key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Customers with fewer services opted are highest churn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Frequent Flyers show significantly lower churn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9008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High-income customers tend to be more loyal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655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Social media account sync correlates with higher retention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669280" cy="2514600"/>
          </a:xfrm>
          <a:prstGeom prst="rect">
            <a:avLst/>
          </a:prstGeom>
          <a:solidFill>
            <a:srgbClr val="0C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325880"/>
            <a:ext cx="5669280" cy="109728"/>
          </a:xfrm>
          <a:prstGeom prst="rect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49047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9E55"/>
                </a:solidFill>
              </a:rPr>
              <a:t>Model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391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Random Forest achieved ~85% accuracy on test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146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ROC-AUC ≈ 0.88 → strong discriminative 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9008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Balanced class weights improved minority class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655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Classification report confirms robust Precision &amp; Recall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5669280" cy="2514600"/>
          </a:xfrm>
          <a:prstGeom prst="rect">
            <a:avLst/>
          </a:prstGeom>
          <a:solidFill>
            <a:srgbClr val="0C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5669280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096511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300"/>
                </a:solidFill>
              </a:rPr>
              <a:t>Important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6451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#1  ServicesOpted – strongest predictor of churn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206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#2  Age – younger customers churn more frequently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9612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#3  FrequentFlyer – loyalty status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07161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#4  AnnualIncomeClass – higher income = lower churn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931920"/>
            <a:ext cx="5669280" cy="2514600"/>
          </a:xfrm>
          <a:prstGeom prst="rect">
            <a:avLst/>
          </a:prstGeom>
          <a:solidFill>
            <a:srgbClr val="0C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09360" y="3931920"/>
            <a:ext cx="5669280" cy="10972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4096511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5350"/>
                </a:solidFill>
              </a:rPr>
              <a:t>Areas of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451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Hyperparameter tuning with GridSearchCV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206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Try XGBoost / LightGBM for better performance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59612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Apply SMOTE for class imbalance handling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607161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Add cross-validation for more robust evaluation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A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" y="651052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0A0"/>
                </a:solidFill>
              </a:rPr>
              <a:t>Slide 9: Conclusion  |  Customer Churn Prediction using Random Forest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1242</Words>
  <Application>Microsoft Office PowerPoint</Application>
  <PresentationFormat>Custom</PresentationFormat>
  <Paragraphs>221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dev.solanki.works@gmail.com</cp:lastModifiedBy>
  <cp:revision>1</cp:revision>
  <dcterms:created xsi:type="dcterms:W3CDTF">2013-01-27T09:14:16Z</dcterms:created>
  <dcterms:modified xsi:type="dcterms:W3CDTF">2026-04-21T09:17:16Z</dcterms:modified>
  <cp:category/>
</cp:coreProperties>
</file>