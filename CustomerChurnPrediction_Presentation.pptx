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13716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46920" y="91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28FBE"/>
                </a:solidFill>
              </a:rPr>
              <a:t>B.Tech – Gen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5669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2nd Semester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9144000" cy="82296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Customer Churn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CAE3F5"/>
                </a:solidFill>
              </a:rPr>
              <a:t>using 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28FBE"/>
                </a:solidFill>
              </a:rPr>
              <a:t>Deployment with Streamlit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34840"/>
            <a:ext cx="2743200" cy="100584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434840"/>
            <a:ext cx="2743200" cy="82296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720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FBE"/>
                </a:solidFill>
              </a:rPr>
              <a:t>Student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37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[Your Name]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434840"/>
            <a:ext cx="2743200" cy="100584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4434840"/>
            <a:ext cx="2743200" cy="82296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5720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FBE"/>
                </a:solidFill>
              </a:rPr>
              <a:t>Enrollment 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937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[Enrollment Number]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434840"/>
            <a:ext cx="2743200" cy="100584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434840"/>
            <a:ext cx="2743200" cy="82296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5720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FBE"/>
                </a:solidFill>
              </a:rPr>
              <a:t>Instructor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937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[Instructor Name]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4434840"/>
            <a:ext cx="2743200" cy="100584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4434840"/>
            <a:ext cx="2743200" cy="82296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45720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FBE"/>
                </a:solidFill>
              </a:rPr>
              <a:t>Course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937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B.Tech Gen AI  |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90A0"/>
                </a:solidFill>
              </a:rPr>
              <a:t>Final Project  ·  Individual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703320" cy="489204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03320" cy="10972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3A5E"/>
                </a:solidFill>
              </a:rPr>
              <a:t>What is Customer Churn?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76272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Churn = customers stopping use of a product/service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79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In travel: passengers switching to other airlines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Every lost customer = lost recurring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25696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Churn rate is a critical KPI for businesses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325880"/>
            <a:ext cx="3703320" cy="489204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325880"/>
            <a:ext cx="3703320" cy="109728"/>
          </a:xfrm>
          <a:prstGeom prst="rect">
            <a:avLst/>
          </a:prstGeom>
          <a:solidFill>
            <a:srgbClr val="2E9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087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3A5E"/>
                </a:solidFill>
              </a:rPr>
              <a:t>Why Predict Churn?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76272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Retention is 5–7× cheaper than acquisition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26079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Early signals allow proactive 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675887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Targeted loyalty rewards reduce churn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425696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Improves customer lifetime value (CLV)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325880"/>
            <a:ext cx="3703320" cy="489204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325880"/>
            <a:ext cx="3703320" cy="10972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5087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3A5E"/>
                </a:solidFill>
              </a:rPr>
              <a:t>Project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176272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Build a Random Forest classifier on travel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926079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Predict whether a customer will churn (Yes/No)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3675887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Evaluate using Accuracy, ROC-AUC, F1-Score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4425696"/>
            <a:ext cx="3337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Deploy live app on Streamlit 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A0"/>
                </a:solidFill>
              </a:rPr>
              <a:t>Slide 2: Project Overview  |  Customer Churn Prediction using Random Forest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521440" cy="9144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FBE"/>
                </a:solidFill>
              </a:rPr>
              <a:t>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Customertravel.csv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FBE"/>
                </a:solidFill>
              </a:rP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642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~954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FBE"/>
                </a:solidFill>
              </a:rPr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642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371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FBE"/>
                </a:solidFill>
              </a:rP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6642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Binary (0 /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95728"/>
            <a:ext cx="11521440" cy="47548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44144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Column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441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4414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Values /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441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98648"/>
            <a:ext cx="11521440" cy="484632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6265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9626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3F5"/>
                </a:solidFill>
              </a:rPr>
              <a:t>Demographics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9626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18 – 80 years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990088"/>
            <a:ext cx="2286000" cy="301752"/>
          </a:xfrm>
          <a:prstGeom prst="rect">
            <a:avLst/>
          </a:prstGeom>
          <a:solidFill>
            <a:srgbClr val="22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299008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10712"/>
            <a:ext cx="11521440" cy="48463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FrequentFlyer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3F5"/>
                </a:solidFill>
              </a:rPr>
              <a:t>Demographics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Yes / No / No Record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502152"/>
            <a:ext cx="2286000" cy="301752"/>
          </a:xfrm>
          <a:prstGeom prst="rect">
            <a:avLst/>
          </a:prstGeom>
          <a:solidFill>
            <a:srgbClr val="22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350215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22776"/>
            <a:ext cx="11521440" cy="484632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9867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AnnualIncomeClass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9867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3F5"/>
                </a:solidFill>
              </a:rPr>
              <a:t>Account Info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9867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Low / Middle / 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014215"/>
            <a:ext cx="2286000" cy="301752"/>
          </a:xfrm>
          <a:prstGeom prst="rect">
            <a:avLst/>
          </a:prstGeom>
          <a:solidFill>
            <a:srgbClr val="22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4014215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434840"/>
            <a:ext cx="11521440" cy="48463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4988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ServicesOpted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44988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3F5"/>
                </a:solidFill>
              </a:rPr>
              <a:t>Service Usage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498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 – 6 (count)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4526279"/>
            <a:ext cx="2286000" cy="301752"/>
          </a:xfrm>
          <a:prstGeom prst="rect">
            <a:avLst/>
          </a:prstGeom>
          <a:solidFill>
            <a:srgbClr val="22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4526279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946904"/>
            <a:ext cx="11521440" cy="484632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0109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AccountSyncedToSocialMedia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0109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3F5"/>
                </a:solidFill>
              </a:rPr>
              <a:t>Account Info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5010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Yes / 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5038344"/>
            <a:ext cx="2286000" cy="301752"/>
          </a:xfrm>
          <a:prstGeom prst="rect">
            <a:avLst/>
          </a:prstGeom>
          <a:solidFill>
            <a:srgbClr val="22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503834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458968"/>
            <a:ext cx="11521440" cy="484632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522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BookedHotelOrNot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0" y="552297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3F5"/>
                </a:solidFill>
              </a:rPr>
              <a:t>Service Usage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55229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Yes /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5550408"/>
            <a:ext cx="2286000" cy="301752"/>
          </a:xfrm>
          <a:prstGeom prst="rect">
            <a:avLst/>
          </a:prstGeom>
          <a:solidFill>
            <a:srgbClr val="22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9720" y="555040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971032"/>
            <a:ext cx="11521440" cy="484632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035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300"/>
                </a:solidFill>
              </a:rPr>
              <a:t>Target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0" y="6035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E3F5"/>
                </a:solidFill>
              </a:rPr>
              <a:t>Churn 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 = Stay, 1 = Churn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6062472"/>
            <a:ext cx="2286000" cy="301752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89720" y="606247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Target 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65105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A0"/>
                </a:solidFill>
              </a:rPr>
              <a:t>Slide 3: Dataset Description  |  Customer Churn Prediction using Random Forest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2788920" cy="489204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788920" cy="10972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79" y="1508760"/>
            <a:ext cx="548640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3A5E"/>
                </a:solidFill>
              </a:rPr>
              <a:t>Data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Handle missing values → fillna('Unknown')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Remove inconsistencies in categorical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962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Validate data types and value ranges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8FBE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788920" cy="489204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25880"/>
            <a:ext cx="2788920" cy="10972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508760"/>
            <a:ext cx="548640" cy="5486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5727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3A5E"/>
                </a:solidFill>
              </a:rPr>
              <a:t>Feature Encoding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LabelEncoder applied to 4 categorical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04495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FrequentFlyer, AnnualIncomeClass, AccountSynced, BookedHotel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84962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Encoders saved in model.pkl for deployment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8FBE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325880"/>
            <a:ext cx="2788920" cy="489204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325880"/>
            <a:ext cx="2788920" cy="109728"/>
          </a:xfrm>
          <a:prstGeom prst="rect">
            <a:avLst/>
          </a:prstGeom>
          <a:solidFill>
            <a:srgbClr val="2E9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79" y="1508760"/>
            <a:ext cx="548640" cy="548640"/>
          </a:xfrm>
          <a:prstGeom prst="rect">
            <a:avLst/>
          </a:prstGeom>
          <a:solidFill>
            <a:srgbClr val="2E9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79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15727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3A5E"/>
                </a:solidFill>
              </a:rPr>
              <a:t>Train-Test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80% Training  /  20%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4495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stratify=y preserves churn class 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84962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random_state=42 for reproducibility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59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8FBE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1325880"/>
            <a:ext cx="2788920" cy="489204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1325880"/>
            <a:ext cx="2788920" cy="10972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1508760"/>
            <a:ext cx="548640" cy="548640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15727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3A5E"/>
                </a:solidFill>
              </a:rPr>
              <a:t>Random Forest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RandomForestClassifier(n_estimators=100)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04495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max_depth=10, class_weight='balanced'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84962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model.fit(X_train, y_train) → model.pkl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A0"/>
                </a:solidFill>
              </a:rPr>
              <a:t>Slide 4: ML Workflow  |  Customer Churn Prediction using Random Forest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Model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11521440" cy="11887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2103120" cy="105156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2103120" cy="73152"/>
          </a:xfrm>
          <a:prstGeom prst="rect">
            <a:avLst/>
          </a:prstGeom>
          <a:solidFill>
            <a:srgbClr val="2E9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90A0"/>
                </a:solidFill>
              </a:rPr>
              <a:t>Accuracy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9E55"/>
                </a:solidFill>
              </a:rPr>
              <a:t>~85%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389888"/>
            <a:ext cx="2103120" cy="105156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24912" y="1389888"/>
            <a:ext cx="2103120" cy="73152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5087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90A0"/>
                </a:solidFill>
              </a:rPr>
              <a:t>ROC-AUC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18105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28FBE"/>
                </a:solidFill>
              </a:rPr>
              <a:t>~0.88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2624" y="1389888"/>
            <a:ext cx="2103120" cy="105156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92624" y="1389888"/>
            <a:ext cx="210312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15087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90A0"/>
                </a:solidFill>
              </a:rP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8105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B300"/>
                </a:solidFill>
              </a:rPr>
              <a:t>~0.83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0336" y="1389888"/>
            <a:ext cx="2103120" cy="105156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0336" y="1389888"/>
            <a:ext cx="2103120" cy="7315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1775" y="15087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90A0"/>
                </a:solidFill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5" y="18105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F5350"/>
                </a:solidFill>
              </a:rPr>
              <a:t>~0.79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8048" y="1389888"/>
            <a:ext cx="2103120" cy="1051560"/>
          </a:xfrm>
          <a:prstGeom prst="rect">
            <a:avLst/>
          </a:prstGeom>
          <a:solidFill>
            <a:srgbClr val="0C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28048" y="1389888"/>
            <a:ext cx="2103120" cy="73152"/>
          </a:xfrm>
          <a:prstGeom prst="rect">
            <a:avLst/>
          </a:prstGeom>
          <a:solidFill>
            <a:srgbClr val="CAE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9488" y="15087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90A0"/>
                </a:solidFill>
              </a:rPr>
              <a:t>F1-Score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18105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AE3F5"/>
                </a:solidFill>
              </a:rPr>
              <a:t>~0.81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715768"/>
            <a:ext cx="5715000" cy="3474720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81635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FBE"/>
                </a:solidFill>
              </a:rPr>
              <a:t>Confusion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40156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True Negative (TN): Correctly predicted 'Retained'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90448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True Positive (TP): Correctly predicted 'Churned'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0740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False Positive (FP): Predicted Churn but retained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91032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False Negative (FN): Missed actual churners  ← 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41324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Goal: Maximize TP &amp; TN, minimize FN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989320"/>
            <a:ext cx="5715000" cy="164592"/>
          </a:xfrm>
          <a:prstGeom prst="rect">
            <a:avLst/>
          </a:prstGeom>
          <a:solidFill>
            <a:srgbClr val="025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5989320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E3F5"/>
                </a:solidFill>
              </a:rPr>
              <a:t>ℹ  Classification Report shows per-class Precision, Recall &amp; F1 for both Churn (1) and No-Churn (0) classes.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2715768"/>
            <a:ext cx="5715000" cy="3474720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81635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FBE"/>
                </a:solidFill>
              </a:rPr>
              <a:t>ROC Curve &amp; Feature Importance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40156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ROC Curve plots True Positive Rate vs False Positive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90448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AUC near 1.0 → strong discriminative power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40740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Top Features → ServicesOpted, Age, FrequentFlyer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91032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AnnualIncomeClass &amp; SocialMedia sync also significant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41324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▸  Feature importance guides business retention strategy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5989320"/>
            <a:ext cx="5715000" cy="164592"/>
          </a:xfrm>
          <a:prstGeom prst="rect">
            <a:avLst/>
          </a:prstGeom>
          <a:solidFill>
            <a:srgbClr val="025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799" y="5989320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E3F5"/>
                </a:solidFill>
              </a:rPr>
              <a:t>ℹ  ROC curve area (AUC ≈ 0.88) indicates the model is well above random chance (AUC = 0.5).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5105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A0"/>
                </a:solidFill>
              </a:rPr>
              <a:t>Slide 5: Model Evaluation  |  Customer Churn Prediction using Random Forest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Visualizations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657600" cy="2423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91440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27048"/>
            <a:ext cx="594360" cy="594360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7276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Churn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2402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Bar + Pie chart showing percentage split of churned (1) vs retained (0) customers across the dataset.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657600" cy="2423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325880"/>
            <a:ext cx="3657600" cy="91440"/>
          </a:xfrm>
          <a:prstGeom prst="rect">
            <a:avLst/>
          </a:prstGeom>
          <a:solidFill>
            <a:srgbClr val="2E9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27048"/>
            <a:ext cx="594360" cy="594360"/>
          </a:xfrm>
          <a:prstGeom prst="rect">
            <a:avLst/>
          </a:prstGeom>
          <a:solidFill>
            <a:srgbClr val="2E9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270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157276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Feature Distribution Plots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1" y="22402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6-panel plot: churn rate by Age, FrequentFlyer, AnnualIncomeClass, ServicesOpted, AccountSynced, BookedHotel.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657600" cy="2423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325880"/>
            <a:ext cx="3657600" cy="914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527048"/>
            <a:ext cx="594360" cy="5943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270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57276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Correlation Heatmap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2402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Pearson correlation matrix (heatmap) of all encoded features to identify multicollinearity with Target.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3657600" cy="2423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3657600" cy="914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33087"/>
            <a:ext cx="594360" cy="5943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33087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417880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Confusion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84632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2×2 heatmap of True Positives, True Negatives, False Positives, and False Negatives on test split.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931920"/>
            <a:ext cx="3657600" cy="2423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3931920"/>
            <a:ext cx="3657600" cy="914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133087"/>
            <a:ext cx="594360" cy="5943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4133087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3207" y="417880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ROC Curve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1" y="484632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True Positive Rate vs False Positive Rate with AUC shaded area. AUC ≈ 0.88 for this model.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3931920"/>
            <a:ext cx="3657600" cy="242316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79" y="3931920"/>
            <a:ext cx="3657600" cy="91440"/>
          </a:xfrm>
          <a:prstGeom prst="rect">
            <a:avLst/>
          </a:prstGeom>
          <a:solidFill>
            <a:srgbClr val="0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4133087"/>
            <a:ext cx="594360" cy="594360"/>
          </a:xfrm>
          <a:prstGeom prst="rect">
            <a:avLst/>
          </a:prstGeom>
          <a:solidFill>
            <a:srgbClr val="0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133087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5128" y="4178808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Feature Importance Chart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1" y="484632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Horizontal bar chart ranking all 6 features by their importance score from the Random Forest model.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105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A0"/>
                </a:solidFill>
              </a:rPr>
              <a:t>Slide 6: Visualizations  |  Customer Churn Prediction using Random Forest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Streamlit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5349240" cy="5074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8FBE"/>
                </a:solidFill>
              </a:rPr>
              <a:t>Required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93392"/>
            <a:ext cx="51206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3F5"/>
                </a:solidFill>
              </a:rPr>
              <a:t>    › Loads model.pkl using pickle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3F5"/>
                </a:solidFill>
              </a:rPr>
              <a:t>    › Presents input form via Streamlit widgets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181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3F5"/>
                </a:solidFill>
              </a:rPr>
              <a:t>    › Encodes inputs → feeds to RF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3F5"/>
                </a:solidFill>
              </a:rPr>
              <a:t>    › Displays Churn / No-Churn prediction + probability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04488"/>
            <a:ext cx="5120640" cy="347472"/>
          </a:xfrm>
          <a:prstGeom prst="rect">
            <a:avLst/>
          </a:prstGeom>
          <a:solidFill>
            <a:srgbClr val="2E9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410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model.pkl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793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3F5"/>
                </a:solidFill>
              </a:rPr>
              <a:t>    › Saved from Jupyter Notebook after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54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3F5"/>
                </a:solidFill>
              </a:rPr>
              <a:t>    › Contains: RandomForestClassifier + LabelEncoders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3F5"/>
                </a:solidFill>
              </a:rPr>
              <a:t>    › Loaded once and cached with @st.cache_resource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440680"/>
            <a:ext cx="5120640" cy="34747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4772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requirements.txt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15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3F5"/>
                </a:solidFill>
              </a:rPr>
              <a:t>    › Lists all Python dependencies for cloud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0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3F5"/>
                </a:solidFill>
              </a:rPr>
              <a:t>    › Includes: streamlit, pandas, numpy, scikit-learn,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E3F5"/>
                </a:solidFill>
              </a:rPr>
              <a:t>    ›   scikit-plot, matplotlib, seaborn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298448"/>
            <a:ext cx="5943600" cy="5074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4173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8FBE"/>
                </a:solidFill>
              </a:rPr>
              <a:t>How Streamlit Cloud 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029968"/>
            <a:ext cx="502920" cy="548640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2075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0665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 Repo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340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0A0"/>
                </a:solidFill>
              </a:rPr>
              <a:t>Contains app.py, model.pkl, requirements.txt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898648"/>
            <a:ext cx="502920" cy="548640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9443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9352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Streamlit 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209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0A0"/>
                </a:solidFill>
              </a:rPr>
              <a:t>Reads repo and installs requirements.txt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767328"/>
            <a:ext cx="502920" cy="548640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813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8039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Build &amp; Launch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078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0A0"/>
                </a:solidFill>
              </a:rPr>
              <a:t>Runs app.py → serves it as a public web app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636008"/>
            <a:ext cx="502920" cy="548640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46817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6725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Public 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469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0A0"/>
                </a:solidFill>
              </a:rPr>
              <a:t>https://your-app-name.streamlit.app/ generated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5504688"/>
            <a:ext cx="502920" cy="548640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555040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55412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Live Predictions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81558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0A0"/>
                </a:solidFill>
              </a:rPr>
              <a:t>Any user can enter inputs and get predictions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105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A0"/>
                </a:solidFill>
              </a:rPr>
              <a:t>Slide 7: Streamlit Deployment  |  Customer Churn Prediction using Random Forest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Deployment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777240" cy="84124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325880"/>
            <a:ext cx="9326880" cy="841248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38988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Create 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37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Create a new public GitHub repo. Upload app.py, model.pkl, and requirements.txt. Commit and push all 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1508760"/>
            <a:ext cx="1691640" cy="438912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52760" y="15270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github.com → New Repository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31720"/>
            <a:ext cx="777240" cy="841248"/>
          </a:xfrm>
          <a:prstGeom prst="rect">
            <a:avLst/>
          </a:prstGeom>
          <a:solidFill>
            <a:srgbClr val="2E9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42316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331720"/>
            <a:ext cx="9326880" cy="841248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395727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Sign in to Streamlit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43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Go to share.streamlit.io. Click 'Sign in with GitHub'. Authorize Streamlit to access your repositories.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0" y="2514600"/>
            <a:ext cx="1691640" cy="438912"/>
          </a:xfrm>
          <a:prstGeom prst="rect">
            <a:avLst/>
          </a:prstGeom>
          <a:solidFill>
            <a:srgbClr val="2E9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52760" y="25328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share.streamlit.io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37560"/>
            <a:ext cx="777240" cy="84124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42900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3337560"/>
            <a:ext cx="9326880" cy="841248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40156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Click 'Deploy App'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749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Click the 'Deploy App' button on Streamlit Cloud dashboard. Select your GitHub repository from the dropdown.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3520440"/>
            <a:ext cx="1691640" cy="43891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52760" y="35387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Dashboard → Deploy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43400"/>
            <a:ext cx="777240" cy="84124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43484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4343400"/>
            <a:ext cx="9326880" cy="841248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440740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Select Repository &amp;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754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Choose your repository. Set the main file path to app.py. Confirm all settings and click Deploy.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4526280"/>
            <a:ext cx="1691640" cy="43891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60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Main file: app.py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349240"/>
            <a:ext cx="777240" cy="841248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4406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" y="5349240"/>
            <a:ext cx="9326880" cy="841248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41324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3A5E"/>
                </a:solidFill>
              </a:rPr>
              <a:t>Copy &amp; Share the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760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Streamlit builds the app and generates a public URL. Copy the link and include it in your submission.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07040" y="5532120"/>
            <a:ext cx="1691640" cy="438912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52760" y="55504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https://your-app.streamlit.app/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A0"/>
                </a:solidFill>
              </a:rPr>
              <a:t>Slide 8: Deployment Steps  |  Customer Churn Prediction using Random 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669280" cy="2514600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69280" cy="109728"/>
          </a:xfrm>
          <a:prstGeom prst="rect">
            <a:avLst/>
          </a:prstGeom>
          <a:solidFill>
            <a:srgbClr val="028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904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FBE"/>
                </a:solidFill>
              </a:rP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3911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Customers with fewer services opted are highest churn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Frequent Flyers show significantly lower churn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00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High-income customers tend to be more loyal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6557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Social media account sync correlates with higher retention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669280" cy="2514600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669280" cy="109728"/>
          </a:xfrm>
          <a:prstGeom prst="rect">
            <a:avLst/>
          </a:prstGeom>
          <a:solidFill>
            <a:srgbClr val="2E9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904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E55"/>
                </a:solidFill>
              </a:rPr>
              <a:t>Model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3911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Random Forest achieved ~85% accuracy on test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146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ROC-AUC ≈ 0.88 → strong discriminative 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9008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Balanced class weights improved minority class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6557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Classification report confirms robust Precision &amp; 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31920"/>
            <a:ext cx="5669280" cy="2514600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5669280" cy="10972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9651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300"/>
                </a:solidFill>
              </a:rPr>
              <a:t>Important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6451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#1  ServicesOpted – strongest predictor of churn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206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#2  Age – younger customers churn more frequently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9612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#3  FrequentFlyer – loyalty status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07161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#4  AnnualIncomeClass – higher income = lower churn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31920"/>
            <a:ext cx="5669280" cy="2514600"/>
          </a:xfrm>
          <a:prstGeom prst="rect">
            <a:avLst/>
          </a:prstGeom>
          <a:solidFill>
            <a:srgbClr val="0C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931920"/>
            <a:ext cx="5669280" cy="10972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09651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5350"/>
                </a:solidFill>
              </a:rPr>
              <a:t>Areas of Improvement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451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Hyperparameter tuning with GridSearchCV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Try XGBoost / LightGBM for better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59612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Apply SMOTE for class imbalance handling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607161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Add cross-validation for more robust 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105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A0"/>
                </a:solidFill>
              </a:rPr>
              <a:t>Slide 9: Conclusion  |  Customer Churn Prediction using Random Forest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